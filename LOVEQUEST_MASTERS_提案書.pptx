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7B5EA7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3474720"/>
            <a:ext cx="2560320" cy="2560320"/>
          </a:xfrm>
          <a:prstGeom prst="ellipse">
            <a:avLst/>
          </a:prstGeom>
          <a:solidFill>
            <a:srgbClr val="E94560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-365760"/>
            <a:ext cx="1645920" cy="1645920"/>
          </a:xfrm>
          <a:prstGeom prst="ellipse">
            <a:avLst/>
          </a:prstGeom>
          <a:solidFill>
            <a:srgbClr val="F5A623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spc="600" kern="0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LOVEQUEST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spc="1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MASTERS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2926080" y="2907792"/>
            <a:ext cx="329184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0175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RPG型 恋愛学習プラットフォーム  構築提案書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4930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企画・監修: ジョニー   ×   構築: リョータロー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Claude Code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コンセプト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恋愛を「人生RPG」にする — 出会いのテクニックではなく、生き方のゲーミフィケーション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1A1A35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31673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⚔️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78408" y="1298448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レベルアップ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1682496"/>
            <a:ext cx="1947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仮説・検証の場数を踏む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1A1A35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131673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904488" y="1298448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武器を持つ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04488" y="1682496"/>
            <a:ext cx="1947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外見力・デート力を磨く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18872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1A1A35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1928" y="131673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🧙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30568" y="1298448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仲間を増やす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30568" y="1682496"/>
            <a:ext cx="1947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オフ会・勉強会で同士を作る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83464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1A1A35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296265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🎭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78408" y="2944368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ジャブ変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78408" y="3328416"/>
            <a:ext cx="1947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16タイプを操れるようになる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46120" y="283464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1A1A35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296265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904488" y="2944368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攻略法を持つ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04488" y="3328416"/>
            <a:ext cx="1947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タイプ別コミュニケーション術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283464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1A1A35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81928" y="296265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👑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30568" y="2944368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ラスボスを倒す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30568" y="3328416"/>
            <a:ext cx="1947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人生の目標を達成する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システム構成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「既存プラットフォーム」と「RPGアプリ」の役割分担でDevOpsコストをゼロに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3749040" cy="3566160"/>
          </a:xfrm>
          <a:prstGeom prst="roundRect">
            <a:avLst>
              <a:gd name="adj" fmla="val 2564"/>
            </a:avLst>
          </a:prstGeom>
          <a:solidFill>
            <a:srgbClr val="1A1A35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9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UTAGE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(既存プラットフォーム・保守不要)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0848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会員管理・ログイン認証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決済・サブスク管理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9443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🎥 動画コンテンツ配信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3741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メルマガ・LINE配信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8039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コンテンツアクセス制御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24528" y="2907792"/>
            <a:ext cx="713232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Shape 12"/>
          <p:cNvSpPr/>
          <p:nvPr/>
        </p:nvSpPr>
        <p:spPr>
          <a:xfrm>
            <a:off x="4846320" y="2825496"/>
            <a:ext cx="91440" cy="2011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30175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リンク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0" y="1170432"/>
            <a:ext cx="3749040" cy="3566160"/>
          </a:xfrm>
          <a:prstGeom prst="roundRect">
            <a:avLst>
              <a:gd name="adj" fmla="val 2564"/>
            </a:avLst>
          </a:prstGeom>
          <a:solidFill>
            <a:srgbClr val="1A1A3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12618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RPGダッシュボード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12064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(Claude Code製・GitHub Pages・無料)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12080" y="20848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16タイプアバター選択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12080" y="2514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4ステータス可視化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212080" y="29443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⚔️ クエスト達成度管理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212080" y="33741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レベルアップ演出・通知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212080" y="38039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進捗保存（サーバーレス）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5760" y="4709160"/>
            <a:ext cx="8412480" cy="329184"/>
          </a:xfrm>
          <a:prstGeom prst="roundRect">
            <a:avLst>
              <a:gd name="adj" fmla="val 13889"/>
            </a:avLst>
          </a:prstGeom>
          <a:solidFill>
            <a:srgbClr val="0D1F0D"/>
          </a:solidFill>
          <a:ln w="12700">
            <a:solidFill>
              <a:srgbClr val="4CAF7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CA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サーバー管理ゼロ・月額追加費用ゼロ・独自ドメイン対応可能（例: lovequest-masters.jp）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ユーザー体験フロー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554480" cy="3200400"/>
          </a:xfrm>
          <a:prstGeom prst="roundRect">
            <a:avLst>
              <a:gd name="adj" fmla="val 5882"/>
            </a:avLst>
          </a:prstGeom>
          <a:solidFill>
            <a:srgbClr val="1A1A35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078992"/>
            <a:ext cx="566928" cy="566928"/>
          </a:xfrm>
          <a:prstGeom prst="ellipse">
            <a:avLst/>
          </a:prstGeom>
          <a:solidFill>
            <a:srgbClr val="4A9ED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8813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79222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UTAGEで入会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30428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会員登録・決済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コース教材にアクセス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83664" y="21945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93392" y="914400"/>
            <a:ext cx="1554480" cy="3200400"/>
          </a:xfrm>
          <a:prstGeom prst="roundRect">
            <a:avLst>
              <a:gd name="adj" fmla="val 5882"/>
            </a:avLst>
          </a:prstGeom>
          <a:solidFill>
            <a:srgbClr val="1A1A35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96312" y="1078992"/>
            <a:ext cx="566928" cy="566928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12" name="Text 10"/>
          <p:cNvSpPr/>
          <p:nvPr/>
        </p:nvSpPr>
        <p:spPr>
          <a:xfrm>
            <a:off x="2496312" y="108813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84832" y="179222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アバター選択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84832" y="230428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16タイプから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自分のキャラ選択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02736" y="21945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12464" y="914400"/>
            <a:ext cx="1554480" cy="3200400"/>
          </a:xfrm>
          <a:prstGeom prst="roundRect">
            <a:avLst>
              <a:gd name="adj" fmla="val 5882"/>
            </a:avLst>
          </a:prstGeom>
          <a:solidFill>
            <a:srgbClr val="1A1A3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15384" y="1078992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215384" y="108813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803904" y="179222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教材で学ぶ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03904" y="230428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動画・テキスト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クエスト形式で進める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21808" y="21945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31536" y="914400"/>
            <a:ext cx="1554480" cy="3200400"/>
          </a:xfrm>
          <a:prstGeom prst="roundRect">
            <a:avLst>
              <a:gd name="adj" fmla="val 5882"/>
            </a:avLst>
          </a:prstGeom>
          <a:solidFill>
            <a:srgbClr val="1A1A35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34456" y="1078992"/>
            <a:ext cx="566928" cy="5669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4" name="Text 22"/>
          <p:cNvSpPr/>
          <p:nvPr/>
        </p:nvSpPr>
        <p:spPr>
          <a:xfrm>
            <a:off x="5934456" y="108813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522976" y="179222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レベルアップ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22976" y="230428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4ステータスが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学習で上昇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0" y="21945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</a:rPr>
              <a:t>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150608" y="914400"/>
            <a:ext cx="1554480" cy="3200400"/>
          </a:xfrm>
          <a:prstGeom prst="roundRect">
            <a:avLst>
              <a:gd name="adj" fmla="val 5882"/>
            </a:avLst>
          </a:prstGeom>
          <a:solidFill>
            <a:srgbClr val="1A1A35"/>
          </a:solidFill>
          <a:ln w="12700">
            <a:solidFill>
              <a:srgbClr val="4CAF7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53528" y="1078992"/>
            <a:ext cx="566928" cy="566928"/>
          </a:xfrm>
          <a:prstGeom prst="ellipse">
            <a:avLst/>
          </a:prstGeom>
          <a:solidFill>
            <a:srgbClr val="4CAF73"/>
          </a:solidFill>
          <a:ln/>
        </p:spPr>
      </p:sp>
      <p:sp>
        <p:nvSpPr>
          <p:cNvPr id="30" name="Text 28"/>
          <p:cNvSpPr/>
          <p:nvPr/>
        </p:nvSpPr>
        <p:spPr>
          <a:xfrm>
            <a:off x="7653528" y="108813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242048" y="179222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仲間と実践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42048" y="230428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オフ会・勉強会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コミュニティで活動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3159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恋愛を通じて、人生のラスボスを攻略する旅へ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アバター選択 — 16タイプ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入会後まず自分のタイプを選ぶ。このキャラクターで冒険が始まる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969264"/>
            <a:ext cx="1051560" cy="932688"/>
          </a:xfrm>
          <a:prstGeom prst="roundRect">
            <a:avLst>
              <a:gd name="adj" fmla="val 6863"/>
            </a:avLst>
          </a:prstGeom>
          <a:solidFill>
            <a:srgbClr val="1A1A35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03327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⚔️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93192" y="1481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狂戦士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35608" y="969264"/>
            <a:ext cx="1051560" cy="932688"/>
          </a:xfrm>
          <a:prstGeom prst="roundRect">
            <a:avLst>
              <a:gd name="adj" fmla="val 6863"/>
            </a:avLst>
          </a:prstGeom>
          <a:solidFill>
            <a:srgbClr val="1A1A35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81328" y="103327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81328" y="1481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勇者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23744" y="969264"/>
            <a:ext cx="1051560" cy="932688"/>
          </a:xfrm>
          <a:prstGeom prst="roundRect">
            <a:avLst>
              <a:gd name="adj" fmla="val 6863"/>
            </a:avLst>
          </a:prstGeom>
          <a:solidFill>
            <a:srgbClr val="1A1A35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9464" y="103327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🧙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69464" y="1481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魔法戦士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11880" y="969264"/>
            <a:ext cx="1051560" cy="932688"/>
          </a:xfrm>
          <a:prstGeom prst="roundRect">
            <a:avLst>
              <a:gd name="adj" fmla="val 6863"/>
            </a:avLst>
          </a:prstGeom>
          <a:solidFill>
            <a:srgbClr val="1A1A35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103327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0" y="1481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聖戦士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0016" y="969264"/>
            <a:ext cx="1051560" cy="932688"/>
          </a:xfrm>
          <a:prstGeom prst="roundRect">
            <a:avLst>
              <a:gd name="adj" fmla="val 6863"/>
            </a:avLst>
          </a:prstGeom>
          <a:solidFill>
            <a:srgbClr val="1A1A3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45736" y="103327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👸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45736" y="1481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姫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88152" y="969264"/>
            <a:ext cx="1051560" cy="932688"/>
          </a:xfrm>
          <a:prstGeom prst="roundRect">
            <a:avLst>
              <a:gd name="adj" fmla="val 6863"/>
            </a:avLst>
          </a:prstGeom>
          <a:solidFill>
            <a:srgbClr val="1A1A3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33872" y="103327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🏇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833872" y="1481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騎士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76288" y="969264"/>
            <a:ext cx="1051560" cy="932688"/>
          </a:xfrm>
          <a:prstGeom prst="roundRect">
            <a:avLst>
              <a:gd name="adj" fmla="val 6863"/>
            </a:avLst>
          </a:prstGeom>
          <a:solidFill>
            <a:srgbClr val="1A1A3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22008" y="103327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🗡️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22008" y="1481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盗賊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64424" y="969264"/>
            <a:ext cx="1051560" cy="932688"/>
          </a:xfrm>
          <a:prstGeom prst="roundRect">
            <a:avLst>
              <a:gd name="adj" fmla="val 6863"/>
            </a:avLst>
          </a:prstGeom>
          <a:solidFill>
            <a:srgbClr val="1A1A3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10144" y="103327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🧚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010144" y="1481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妖精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" y="1947672"/>
            <a:ext cx="1051560" cy="932688"/>
          </a:xfrm>
          <a:prstGeom prst="roundRect">
            <a:avLst>
              <a:gd name="adj" fmla="val 6863"/>
            </a:avLst>
          </a:prstGeom>
          <a:solidFill>
            <a:srgbClr val="1A1A35"/>
          </a:solidFill>
          <a:ln w="12700">
            <a:solidFill>
              <a:srgbClr val="4CAF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" y="201168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🌿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93192" y="24597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シスター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435608" y="1947672"/>
            <a:ext cx="1051560" cy="932688"/>
          </a:xfrm>
          <a:prstGeom prst="roundRect">
            <a:avLst>
              <a:gd name="adj" fmla="val 6863"/>
            </a:avLst>
          </a:prstGeom>
          <a:solidFill>
            <a:srgbClr val="1A1A35"/>
          </a:solidFill>
          <a:ln w="12700">
            <a:solidFill>
              <a:srgbClr val="4CAF7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81328" y="201168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🪖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481328" y="24597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兵士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23744" y="1947672"/>
            <a:ext cx="1051560" cy="932688"/>
          </a:xfrm>
          <a:prstGeom prst="roundRect">
            <a:avLst>
              <a:gd name="adj" fmla="val 6863"/>
            </a:avLst>
          </a:prstGeom>
          <a:solidFill>
            <a:srgbClr val="1A1A35"/>
          </a:solidFill>
          <a:ln w="12700">
            <a:solidFill>
              <a:srgbClr val="4CAF7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9464" y="201168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2569464" y="24597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牧師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11880" y="1947672"/>
            <a:ext cx="1051560" cy="932688"/>
          </a:xfrm>
          <a:prstGeom prst="roundRect">
            <a:avLst>
              <a:gd name="adj" fmla="val 6863"/>
            </a:avLst>
          </a:prstGeom>
          <a:solidFill>
            <a:srgbClr val="1A1A35"/>
          </a:solidFill>
          <a:ln w="12700">
            <a:solidFill>
              <a:srgbClr val="4CAF7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0" y="201168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🦉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657600" y="24597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賢者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0016" y="1947672"/>
            <a:ext cx="1051560" cy="932688"/>
          </a:xfrm>
          <a:prstGeom prst="roundRect">
            <a:avLst>
              <a:gd name="adj" fmla="val 6863"/>
            </a:avLst>
          </a:prstGeom>
          <a:solidFill>
            <a:srgbClr val="1A1A35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45736" y="201168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🔮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4745736" y="24597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魔道士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788152" y="1947672"/>
            <a:ext cx="1051560" cy="932688"/>
          </a:xfrm>
          <a:prstGeom prst="roundRect">
            <a:avLst>
              <a:gd name="adj" fmla="val 6863"/>
            </a:avLst>
          </a:prstGeom>
          <a:solidFill>
            <a:srgbClr val="1A1A35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33872" y="201168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🥷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833872" y="24597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忍者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876288" y="1947672"/>
            <a:ext cx="1051560" cy="932688"/>
          </a:xfrm>
          <a:prstGeom prst="roundRect">
            <a:avLst>
              <a:gd name="adj" fmla="val 6863"/>
            </a:avLst>
          </a:prstGeom>
          <a:solidFill>
            <a:srgbClr val="1A1A35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22008" y="201168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🎭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922008" y="24597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道化師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964424" y="1947672"/>
            <a:ext cx="1051560" cy="932688"/>
          </a:xfrm>
          <a:prstGeom prst="roundRect">
            <a:avLst>
              <a:gd name="adj" fmla="val 6863"/>
            </a:avLst>
          </a:prstGeom>
          <a:solidFill>
            <a:srgbClr val="1A1A35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10144" y="201168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8010144" y="24597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占い師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4663440"/>
            <a:ext cx="164592" cy="164592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54" name="Text 52"/>
          <p:cNvSpPr/>
          <p:nvPr/>
        </p:nvSpPr>
        <p:spPr>
          <a:xfrm>
            <a:off x="676656" y="4636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⚔️ 戦士系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560320" y="4663440"/>
            <a:ext cx="164592" cy="16459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6" name="Text 54"/>
          <p:cNvSpPr/>
          <p:nvPr/>
        </p:nvSpPr>
        <p:spPr>
          <a:xfrm>
            <a:off x="2779776" y="4636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💃 踊り子系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663440" y="4663440"/>
            <a:ext cx="164592" cy="164592"/>
          </a:xfrm>
          <a:prstGeom prst="ellipse">
            <a:avLst/>
          </a:prstGeom>
          <a:solidFill>
            <a:srgbClr val="4CAF73"/>
          </a:solidFill>
          <a:ln/>
        </p:spPr>
      </p:sp>
      <p:sp>
        <p:nvSpPr>
          <p:cNvPr id="58" name="Text 56"/>
          <p:cNvSpPr/>
          <p:nvPr/>
        </p:nvSpPr>
        <p:spPr>
          <a:xfrm>
            <a:off x="4882896" y="4636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A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🕊️ 僧侶系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766560" y="4663440"/>
            <a:ext cx="164592" cy="164592"/>
          </a:xfrm>
          <a:prstGeom prst="ellipse">
            <a:avLst/>
          </a:prstGeom>
          <a:solidFill>
            <a:srgbClr val="4A9EDB"/>
          </a:solidFill>
          <a:ln/>
        </p:spPr>
      </p:sp>
      <p:sp>
        <p:nvSpPr>
          <p:cNvPr id="60" name="Text 58"/>
          <p:cNvSpPr/>
          <p:nvPr/>
        </p:nvSpPr>
        <p:spPr>
          <a:xfrm>
            <a:off x="6986016" y="4636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9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魔法使い系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ステータス &amp; クエストシステム（UI イメージ）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2011680" cy="4206240"/>
          </a:xfrm>
          <a:prstGeom prst="roundRect">
            <a:avLst>
              <a:gd name="adj" fmla="val 4545"/>
            </a:avLst>
          </a:prstGeom>
          <a:solidFill>
            <a:srgbClr val="1A1A35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🧙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魔法戦士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3042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Lv.4  冒険者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724912"/>
            <a:ext cx="1737360" cy="201168"/>
          </a:xfrm>
          <a:prstGeom prst="roundRect">
            <a:avLst>
              <a:gd name="adj" fmla="val 22727"/>
            </a:avLst>
          </a:prstGeom>
          <a:solidFill>
            <a:srgbClr val="2A2A4A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2724912"/>
            <a:ext cx="1077163" cy="201168"/>
          </a:xfrm>
          <a:prstGeom prst="roundRect">
            <a:avLst>
              <a:gd name="adj" fmla="val 22727"/>
            </a:avLst>
          </a:prstGeom>
          <a:solidFill>
            <a:srgbClr val="7B5EA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9809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  62%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06040" y="7498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ステータス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06040" y="120700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外見力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94760" y="120700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Lv.6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15968" y="1271016"/>
            <a:ext cx="1645920" cy="182880"/>
          </a:xfrm>
          <a:prstGeom prst="roundRect">
            <a:avLst>
              <a:gd name="adj" fmla="val 20000"/>
            </a:avLst>
          </a:prstGeom>
          <a:solidFill>
            <a:srgbClr val="2A2A4A"/>
          </a:solidFill>
          <a:ln/>
        </p:spPr>
      </p:sp>
      <p:sp>
        <p:nvSpPr>
          <p:cNvPr id="15" name="Shape 13"/>
          <p:cNvSpPr/>
          <p:nvPr/>
        </p:nvSpPr>
        <p:spPr>
          <a:xfrm>
            <a:off x="4315968" y="1271016"/>
            <a:ext cx="1069848" cy="182880"/>
          </a:xfrm>
          <a:prstGeom prst="roundRect">
            <a:avLst>
              <a:gd name="adj" fmla="val 20000"/>
            </a:avLst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6007608" y="120700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195681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デート力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94760" y="195681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Lv.4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15968" y="2020824"/>
            <a:ext cx="1645920" cy="182880"/>
          </a:xfrm>
          <a:prstGeom prst="roundRect">
            <a:avLst>
              <a:gd name="adj" fmla="val 20000"/>
            </a:avLst>
          </a:prstGeom>
          <a:solidFill>
            <a:srgbClr val="2A2A4A"/>
          </a:solidFill>
          <a:ln/>
        </p:spPr>
      </p:sp>
      <p:sp>
        <p:nvSpPr>
          <p:cNvPr id="20" name="Shape 18"/>
          <p:cNvSpPr/>
          <p:nvPr/>
        </p:nvSpPr>
        <p:spPr>
          <a:xfrm>
            <a:off x="4315968" y="2020824"/>
            <a:ext cx="658368" cy="18288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6007608" y="1956816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06040" y="270662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💫 魅了力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94760" y="27066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Lv.5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15968" y="2770632"/>
            <a:ext cx="1645920" cy="182880"/>
          </a:xfrm>
          <a:prstGeom prst="roundRect">
            <a:avLst>
              <a:gd name="adj" fmla="val 20000"/>
            </a:avLst>
          </a:prstGeom>
          <a:solidFill>
            <a:srgbClr val="2A2A4A"/>
          </a:solidFill>
          <a:ln/>
        </p:spPr>
      </p:sp>
      <p:sp>
        <p:nvSpPr>
          <p:cNvPr id="25" name="Shape 23"/>
          <p:cNvSpPr/>
          <p:nvPr/>
        </p:nvSpPr>
        <p:spPr>
          <a:xfrm>
            <a:off x="4315968" y="2770632"/>
            <a:ext cx="905256" cy="182880"/>
          </a:xfrm>
          <a:prstGeom prst="roundRect">
            <a:avLst>
              <a:gd name="adj" fmla="val 20000"/>
            </a:avLst>
          </a:prstGeom>
          <a:solidFill>
            <a:srgbClr val="7B5EA7"/>
          </a:solidFill>
          <a:ln/>
        </p:spPr>
      </p:sp>
      <p:sp>
        <p:nvSpPr>
          <p:cNvPr id="26" name="Text 24"/>
          <p:cNvSpPr/>
          <p:nvPr/>
        </p:nvSpPr>
        <p:spPr>
          <a:xfrm>
            <a:off x="6007608" y="270662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06040" y="345643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コミュ力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94760" y="345643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Lv.3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15968" y="3520440"/>
            <a:ext cx="1645920" cy="182880"/>
          </a:xfrm>
          <a:prstGeom prst="roundRect">
            <a:avLst>
              <a:gd name="adj" fmla="val 20000"/>
            </a:avLst>
          </a:prstGeom>
          <a:solidFill>
            <a:srgbClr val="2A2A4A"/>
          </a:solidFill>
          <a:ln/>
        </p:spPr>
      </p:sp>
      <p:sp>
        <p:nvSpPr>
          <p:cNvPr id="30" name="Shape 28"/>
          <p:cNvSpPr/>
          <p:nvPr/>
        </p:nvSpPr>
        <p:spPr>
          <a:xfrm>
            <a:off x="4315968" y="3520440"/>
            <a:ext cx="493776" cy="182880"/>
          </a:xfrm>
          <a:prstGeom prst="roundRect">
            <a:avLst>
              <a:gd name="adj" fmla="val 20000"/>
            </a:avLst>
          </a:prstGeom>
          <a:solidFill>
            <a:srgbClr val="4CAF73"/>
          </a:solidFill>
          <a:ln/>
        </p:spPr>
      </p:sp>
      <p:sp>
        <p:nvSpPr>
          <p:cNvPr id="31" name="Text 29"/>
          <p:cNvSpPr/>
          <p:nvPr/>
        </p:nvSpPr>
        <p:spPr>
          <a:xfrm>
            <a:off x="6007608" y="345643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92240" y="7498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⚔️ クエスト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92240" y="1207008"/>
            <a:ext cx="2468880" cy="512064"/>
          </a:xfrm>
          <a:prstGeom prst="roundRect">
            <a:avLst>
              <a:gd name="adj" fmla="val 12500"/>
            </a:avLst>
          </a:prstGeom>
          <a:solidFill>
            <a:srgbClr val="0D1F0D"/>
          </a:solidFill>
          <a:ln w="12700">
            <a:solidFill>
              <a:srgbClr val="4CAF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65392" y="1289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49440" y="12984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A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タイプ判定マスター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92240" y="1828800"/>
            <a:ext cx="2468880" cy="512064"/>
          </a:xfrm>
          <a:prstGeom prst="roundRect">
            <a:avLst>
              <a:gd name="adj" fmla="val 12500"/>
            </a:avLst>
          </a:prstGeom>
          <a:solidFill>
            <a:srgbClr val="0D1F0D"/>
          </a:solidFill>
          <a:ln w="12700">
            <a:solidFill>
              <a:srgbClr val="4CAF7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65392" y="1911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49440" y="19202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A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外見力Lv.5達成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492240" y="2450592"/>
            <a:ext cx="2468880" cy="512064"/>
          </a:xfrm>
          <a:prstGeom prst="roundRect">
            <a:avLst>
              <a:gd name="adj" fmla="val 12500"/>
            </a:avLst>
          </a:prstGeom>
          <a:solidFill>
            <a:srgbClr val="1A1A35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65392" y="2532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⬜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49440" y="25420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初回デート成功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492240" y="3072384"/>
            <a:ext cx="2468880" cy="512064"/>
          </a:xfrm>
          <a:prstGeom prst="roundRect">
            <a:avLst>
              <a:gd name="adj" fmla="val 12500"/>
            </a:avLst>
          </a:prstGeom>
          <a:solidFill>
            <a:srgbClr val="1A1A35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65392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⬜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949440" y="31638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2回目デートOK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492240" y="3694176"/>
            <a:ext cx="2468880" cy="512064"/>
          </a:xfrm>
          <a:prstGeom prst="roundRect">
            <a:avLst>
              <a:gd name="adj" fmla="val 12500"/>
            </a:avLst>
          </a:prstGeom>
          <a:solidFill>
            <a:srgbClr val="1A1A35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65392" y="3776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⬜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949440" y="378561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交際スタート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2606040" y="429768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14143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0" y="44074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総合 Lv.4   次まで ████░░░  62%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2801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費用概算 — パターン別比較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274320" y="493776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UTAGEは必須ではない。ニーズに合わせてパターンを選択できます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011680" cy="420624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0" y="804672"/>
            <a:ext cx="1005840" cy="420624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7" name="Shape 5"/>
          <p:cNvSpPr/>
          <p:nvPr/>
        </p:nvSpPr>
        <p:spPr>
          <a:xfrm>
            <a:off x="3291840" y="804672"/>
            <a:ext cx="1325880" cy="420624"/>
          </a:xfrm>
          <a:prstGeom prst="rect">
            <a:avLst/>
          </a:prstGeom>
          <a:solidFill>
            <a:srgbClr val="1A2535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17720" y="804672"/>
            <a:ext cx="1325880" cy="420624"/>
          </a:xfrm>
          <a:prstGeom prst="rect">
            <a:avLst/>
          </a:prstGeom>
          <a:solidFill>
            <a:srgbClr val="1A2520"/>
          </a:solidFill>
          <a:ln w="12700">
            <a:solidFill>
              <a:srgbClr val="4CAF7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804672"/>
            <a:ext cx="1325880" cy="420624"/>
          </a:xfrm>
          <a:prstGeom prst="rect">
            <a:avLst/>
          </a:prstGeom>
          <a:solidFill>
            <a:srgbClr val="251A1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69480" y="804672"/>
            <a:ext cx="1325880" cy="420624"/>
          </a:xfrm>
          <a:prstGeom prst="rect">
            <a:avLst/>
          </a:prstGeom>
          <a:solidFill>
            <a:srgbClr val="251A25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" y="82296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項目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13432" y="822960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費用/月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19272" y="822960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パターン1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A9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超ミニマム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45152" y="822960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A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パターン2 標準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CA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★推奨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71032" y="822960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パターン3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AWS本格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296912" y="822960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パターン4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UTAGEなし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1225296"/>
            <a:ext cx="2011680" cy="292608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18" name="Shape 16"/>
          <p:cNvSpPr/>
          <p:nvPr/>
        </p:nvSpPr>
        <p:spPr>
          <a:xfrm>
            <a:off x="2286000" y="1225296"/>
            <a:ext cx="1005840" cy="292608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19" name="Shape 17"/>
          <p:cNvSpPr/>
          <p:nvPr/>
        </p:nvSpPr>
        <p:spPr>
          <a:xfrm>
            <a:off x="3291840" y="1225296"/>
            <a:ext cx="1325880" cy="292608"/>
          </a:xfrm>
          <a:prstGeom prst="rect">
            <a:avLst/>
          </a:prstGeom>
          <a:solidFill>
            <a:srgbClr val="1A1A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1225296"/>
            <a:ext cx="1325880" cy="292608"/>
          </a:xfrm>
          <a:prstGeom prst="rect">
            <a:avLst/>
          </a:prstGeom>
          <a:solidFill>
            <a:srgbClr val="1A1A35"/>
          </a:solidFill>
          <a:ln w="12700">
            <a:solidFill>
              <a:srgbClr val="1A25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1225296"/>
            <a:ext cx="1325880" cy="292608"/>
          </a:xfrm>
          <a:prstGeom prst="rect">
            <a:avLst/>
          </a:prstGeom>
          <a:solidFill>
            <a:srgbClr val="1A1A35"/>
          </a:solidFill>
          <a:ln w="12700">
            <a:solidFill>
              <a:srgbClr val="251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69480" y="1225296"/>
            <a:ext cx="1325880" cy="292608"/>
          </a:xfrm>
          <a:prstGeom prst="rect">
            <a:avLst/>
          </a:prstGeom>
          <a:solidFill>
            <a:srgbClr val="1A1A35"/>
          </a:solidFill>
          <a:ln w="12700">
            <a:solidFill>
              <a:srgbClr val="251A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12252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UTAGE（会員管理・動画配信）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313432" y="1225296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約20,000円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3319272" y="1225296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45152" y="1225296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71032" y="1225296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96912" y="1225296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1517904"/>
            <a:ext cx="2011680" cy="292608"/>
          </a:xfrm>
          <a:prstGeom prst="rect">
            <a:avLst/>
          </a:prstGeom>
          <a:solidFill>
            <a:srgbClr val="121225"/>
          </a:solidFill>
          <a:ln/>
        </p:spPr>
      </p:sp>
      <p:sp>
        <p:nvSpPr>
          <p:cNvPr id="30" name="Shape 28"/>
          <p:cNvSpPr/>
          <p:nvPr/>
        </p:nvSpPr>
        <p:spPr>
          <a:xfrm>
            <a:off x="2286000" y="1517904"/>
            <a:ext cx="1005840" cy="292608"/>
          </a:xfrm>
          <a:prstGeom prst="rect">
            <a:avLst/>
          </a:prstGeom>
          <a:solidFill>
            <a:srgbClr val="121225"/>
          </a:solidFill>
          <a:ln/>
        </p:spPr>
      </p:sp>
      <p:sp>
        <p:nvSpPr>
          <p:cNvPr id="31" name="Shape 29"/>
          <p:cNvSpPr/>
          <p:nvPr/>
        </p:nvSpPr>
        <p:spPr>
          <a:xfrm>
            <a:off x="3291840" y="1517904"/>
            <a:ext cx="1325880" cy="292608"/>
          </a:xfrm>
          <a:prstGeom prst="rect">
            <a:avLst/>
          </a:prstGeom>
          <a:solidFill>
            <a:srgbClr val="12122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17720" y="1517904"/>
            <a:ext cx="1325880" cy="292608"/>
          </a:xfrm>
          <a:prstGeom prst="rect">
            <a:avLst/>
          </a:prstGeom>
          <a:solidFill>
            <a:srgbClr val="121225"/>
          </a:solidFill>
          <a:ln w="12700">
            <a:solidFill>
              <a:srgbClr val="1A25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1517904"/>
            <a:ext cx="1325880" cy="292608"/>
          </a:xfrm>
          <a:prstGeom prst="rect">
            <a:avLst/>
          </a:prstGeom>
          <a:solidFill>
            <a:srgbClr val="121225"/>
          </a:solidFill>
          <a:ln w="12700">
            <a:solidFill>
              <a:srgbClr val="251A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69480" y="1517904"/>
            <a:ext cx="1325880" cy="292608"/>
          </a:xfrm>
          <a:prstGeom prst="rect">
            <a:avLst/>
          </a:prstGeom>
          <a:solidFill>
            <a:srgbClr val="121225"/>
          </a:solidFill>
          <a:ln w="12700">
            <a:solidFill>
              <a:srgbClr val="251A2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" y="15179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Pages（RPGアプリ）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313432" y="1517904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4CA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¥0</a:t>
            </a:r>
            <a:endParaRPr lang="en-US" sz="870" dirty="0"/>
          </a:p>
        </p:txBody>
      </p:sp>
      <p:sp>
        <p:nvSpPr>
          <p:cNvPr id="37" name="Text 35"/>
          <p:cNvSpPr/>
          <p:nvPr/>
        </p:nvSpPr>
        <p:spPr>
          <a:xfrm>
            <a:off x="3319272" y="1517904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645152" y="1517904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971032" y="1517904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296912" y="1517904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74320" y="1810512"/>
            <a:ext cx="2011680" cy="292608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42" name="Shape 40"/>
          <p:cNvSpPr/>
          <p:nvPr/>
        </p:nvSpPr>
        <p:spPr>
          <a:xfrm>
            <a:off x="2286000" y="1810512"/>
            <a:ext cx="1005840" cy="292608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43" name="Shape 41"/>
          <p:cNvSpPr/>
          <p:nvPr/>
        </p:nvSpPr>
        <p:spPr>
          <a:xfrm>
            <a:off x="3291840" y="1810512"/>
            <a:ext cx="1325880" cy="292608"/>
          </a:xfrm>
          <a:prstGeom prst="rect">
            <a:avLst/>
          </a:prstGeom>
          <a:solidFill>
            <a:srgbClr val="1A1A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17720" y="1810512"/>
            <a:ext cx="1325880" cy="292608"/>
          </a:xfrm>
          <a:prstGeom prst="rect">
            <a:avLst/>
          </a:prstGeom>
          <a:solidFill>
            <a:srgbClr val="1A1A35"/>
          </a:solidFill>
          <a:ln w="12700">
            <a:solidFill>
              <a:srgbClr val="1A252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0" y="1810512"/>
            <a:ext cx="1325880" cy="292608"/>
          </a:xfrm>
          <a:prstGeom prst="rect">
            <a:avLst/>
          </a:prstGeom>
          <a:solidFill>
            <a:srgbClr val="1A1A35"/>
          </a:solidFill>
          <a:ln w="12700">
            <a:solidFill>
              <a:srgbClr val="251A1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69480" y="1810512"/>
            <a:ext cx="1325880" cy="292608"/>
          </a:xfrm>
          <a:prstGeom prst="rect">
            <a:avLst/>
          </a:prstGeom>
          <a:solidFill>
            <a:srgbClr val="1A1A35"/>
          </a:solidFill>
          <a:ln w="12700">
            <a:solidFill>
              <a:srgbClr val="251A2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9184" y="18105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独自ドメイン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313432" y="1810512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約150円</a:t>
            </a:r>
            <a:endParaRPr lang="en-US" sz="870" dirty="0"/>
          </a:p>
        </p:txBody>
      </p:sp>
      <p:sp>
        <p:nvSpPr>
          <p:cNvPr id="49" name="Text 47"/>
          <p:cNvSpPr/>
          <p:nvPr/>
        </p:nvSpPr>
        <p:spPr>
          <a:xfrm>
            <a:off x="3319272" y="181051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645152" y="181051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971032" y="181051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296912" y="181051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274320" y="2103120"/>
            <a:ext cx="2011680" cy="292608"/>
          </a:xfrm>
          <a:prstGeom prst="rect">
            <a:avLst/>
          </a:prstGeom>
          <a:solidFill>
            <a:srgbClr val="121225"/>
          </a:solidFill>
          <a:ln/>
        </p:spPr>
      </p:sp>
      <p:sp>
        <p:nvSpPr>
          <p:cNvPr id="54" name="Shape 52"/>
          <p:cNvSpPr/>
          <p:nvPr/>
        </p:nvSpPr>
        <p:spPr>
          <a:xfrm>
            <a:off x="2286000" y="2103120"/>
            <a:ext cx="1005840" cy="292608"/>
          </a:xfrm>
          <a:prstGeom prst="rect">
            <a:avLst/>
          </a:prstGeom>
          <a:solidFill>
            <a:srgbClr val="121225"/>
          </a:solidFill>
          <a:ln/>
        </p:spPr>
      </p:sp>
      <p:sp>
        <p:nvSpPr>
          <p:cNvPr id="55" name="Shape 53"/>
          <p:cNvSpPr/>
          <p:nvPr/>
        </p:nvSpPr>
        <p:spPr>
          <a:xfrm>
            <a:off x="3291840" y="2103120"/>
            <a:ext cx="1325880" cy="292608"/>
          </a:xfrm>
          <a:prstGeom prst="rect">
            <a:avLst/>
          </a:prstGeom>
          <a:solidFill>
            <a:srgbClr val="12122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17720" y="2103120"/>
            <a:ext cx="1325880" cy="292608"/>
          </a:xfrm>
          <a:prstGeom prst="rect">
            <a:avLst/>
          </a:prstGeom>
          <a:solidFill>
            <a:srgbClr val="121225"/>
          </a:solidFill>
          <a:ln w="12700">
            <a:solidFill>
              <a:srgbClr val="1A252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943600" y="2103120"/>
            <a:ext cx="1325880" cy="292608"/>
          </a:xfrm>
          <a:prstGeom prst="rect">
            <a:avLst/>
          </a:prstGeom>
          <a:solidFill>
            <a:srgbClr val="121225"/>
          </a:solidFill>
          <a:ln w="12700">
            <a:solidFill>
              <a:srgbClr val="251A1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269480" y="2103120"/>
            <a:ext cx="1325880" cy="292608"/>
          </a:xfrm>
          <a:prstGeom prst="rect">
            <a:avLst/>
          </a:prstGeom>
          <a:solidFill>
            <a:srgbClr val="121225"/>
          </a:solidFill>
          <a:ln w="12700">
            <a:solidFill>
              <a:srgbClr val="251A2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9184" y="2103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S3 + CloudFront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2313432" y="2103120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約100円</a:t>
            </a:r>
            <a:endParaRPr lang="en-US" sz="870" dirty="0"/>
          </a:p>
        </p:txBody>
      </p:sp>
      <p:sp>
        <p:nvSpPr>
          <p:cNvPr id="61" name="Text 59"/>
          <p:cNvSpPr/>
          <p:nvPr/>
        </p:nvSpPr>
        <p:spPr>
          <a:xfrm>
            <a:off x="3319272" y="2103120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4645152" y="2103120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5971032" y="2103120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7296912" y="2103120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274320" y="2395728"/>
            <a:ext cx="2011680" cy="292608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66" name="Shape 64"/>
          <p:cNvSpPr/>
          <p:nvPr/>
        </p:nvSpPr>
        <p:spPr>
          <a:xfrm>
            <a:off x="2286000" y="2395728"/>
            <a:ext cx="1005840" cy="292608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67" name="Shape 65"/>
          <p:cNvSpPr/>
          <p:nvPr/>
        </p:nvSpPr>
        <p:spPr>
          <a:xfrm>
            <a:off x="3291840" y="2395728"/>
            <a:ext cx="1325880" cy="292608"/>
          </a:xfrm>
          <a:prstGeom prst="rect">
            <a:avLst/>
          </a:prstGeom>
          <a:solidFill>
            <a:srgbClr val="1A1A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617720" y="2395728"/>
            <a:ext cx="1325880" cy="292608"/>
          </a:xfrm>
          <a:prstGeom prst="rect">
            <a:avLst/>
          </a:prstGeom>
          <a:solidFill>
            <a:srgbClr val="1A1A35"/>
          </a:solidFill>
          <a:ln w="12700">
            <a:solidFill>
              <a:srgbClr val="1A252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943600" y="2395728"/>
            <a:ext cx="1325880" cy="292608"/>
          </a:xfrm>
          <a:prstGeom prst="rect">
            <a:avLst/>
          </a:prstGeom>
          <a:solidFill>
            <a:srgbClr val="1A1A35"/>
          </a:solidFill>
          <a:ln w="12700">
            <a:solidFill>
              <a:srgbClr val="251A1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269480" y="2395728"/>
            <a:ext cx="1325880" cy="292608"/>
          </a:xfrm>
          <a:prstGeom prst="rect">
            <a:avLst/>
          </a:prstGeom>
          <a:solidFill>
            <a:srgbClr val="1A1A35"/>
          </a:solidFill>
          <a:ln w="12700">
            <a:solidFill>
              <a:srgbClr val="251A2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29184" y="23957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AWSバックエンド（進捗DB）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2313432" y="2395728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約3,000〜10,000円</a:t>
            </a:r>
            <a:endParaRPr lang="en-US" sz="870" dirty="0"/>
          </a:p>
        </p:txBody>
      </p:sp>
      <p:sp>
        <p:nvSpPr>
          <p:cNvPr id="73" name="Text 71"/>
          <p:cNvSpPr/>
          <p:nvPr/>
        </p:nvSpPr>
        <p:spPr>
          <a:xfrm>
            <a:off x="3319272" y="2395728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4645152" y="2395728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5971032" y="2395728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7296912" y="2395728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274320" y="2688336"/>
            <a:ext cx="2011680" cy="292608"/>
          </a:xfrm>
          <a:prstGeom prst="rect">
            <a:avLst/>
          </a:prstGeom>
          <a:solidFill>
            <a:srgbClr val="121225"/>
          </a:solidFill>
          <a:ln/>
        </p:spPr>
      </p:sp>
      <p:sp>
        <p:nvSpPr>
          <p:cNvPr id="78" name="Shape 76"/>
          <p:cNvSpPr/>
          <p:nvPr/>
        </p:nvSpPr>
        <p:spPr>
          <a:xfrm>
            <a:off x="2286000" y="2688336"/>
            <a:ext cx="1005840" cy="292608"/>
          </a:xfrm>
          <a:prstGeom prst="rect">
            <a:avLst/>
          </a:prstGeom>
          <a:solidFill>
            <a:srgbClr val="121225"/>
          </a:solidFill>
          <a:ln/>
        </p:spPr>
      </p:sp>
      <p:sp>
        <p:nvSpPr>
          <p:cNvPr id="79" name="Shape 77"/>
          <p:cNvSpPr/>
          <p:nvPr/>
        </p:nvSpPr>
        <p:spPr>
          <a:xfrm>
            <a:off x="3291840" y="2688336"/>
            <a:ext cx="1325880" cy="292608"/>
          </a:xfrm>
          <a:prstGeom prst="rect">
            <a:avLst/>
          </a:prstGeom>
          <a:solidFill>
            <a:srgbClr val="12122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617720" y="2688336"/>
            <a:ext cx="1325880" cy="292608"/>
          </a:xfrm>
          <a:prstGeom prst="rect">
            <a:avLst/>
          </a:prstGeom>
          <a:solidFill>
            <a:srgbClr val="121225"/>
          </a:solidFill>
          <a:ln w="12700">
            <a:solidFill>
              <a:srgbClr val="1A252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943600" y="2688336"/>
            <a:ext cx="1325880" cy="292608"/>
          </a:xfrm>
          <a:prstGeom prst="rect">
            <a:avLst/>
          </a:prstGeom>
          <a:solidFill>
            <a:srgbClr val="121225"/>
          </a:solidFill>
          <a:ln w="12700">
            <a:solidFill>
              <a:srgbClr val="251A1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69480" y="2688336"/>
            <a:ext cx="1325880" cy="292608"/>
          </a:xfrm>
          <a:prstGeom prst="rect">
            <a:avLst/>
          </a:prstGeom>
          <a:solidFill>
            <a:srgbClr val="121225"/>
          </a:solidFill>
          <a:ln w="12700">
            <a:solidFill>
              <a:srgbClr val="251A2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29184" y="26883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Stripe決済（決済リンク直契約）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2313432" y="2688336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決済手数料のみ</a:t>
            </a:r>
            <a:endParaRPr lang="en-US" sz="870" dirty="0"/>
          </a:p>
        </p:txBody>
      </p:sp>
      <p:sp>
        <p:nvSpPr>
          <p:cNvPr id="85" name="Text 83"/>
          <p:cNvSpPr/>
          <p:nvPr/>
        </p:nvSpPr>
        <p:spPr>
          <a:xfrm>
            <a:off x="3319272" y="2688336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4645152" y="2688336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87" name="Text 85"/>
          <p:cNvSpPr/>
          <p:nvPr/>
        </p:nvSpPr>
        <p:spPr>
          <a:xfrm>
            <a:off x="5971032" y="2688336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88" name="Text 86"/>
          <p:cNvSpPr/>
          <p:nvPr/>
        </p:nvSpPr>
        <p:spPr>
          <a:xfrm>
            <a:off x="7296912" y="2688336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274320" y="2980944"/>
            <a:ext cx="2011680" cy="292608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90" name="Shape 88"/>
          <p:cNvSpPr/>
          <p:nvPr/>
        </p:nvSpPr>
        <p:spPr>
          <a:xfrm>
            <a:off x="2286000" y="2980944"/>
            <a:ext cx="1005840" cy="292608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91" name="Shape 89"/>
          <p:cNvSpPr/>
          <p:nvPr/>
        </p:nvSpPr>
        <p:spPr>
          <a:xfrm>
            <a:off x="3291840" y="2980944"/>
            <a:ext cx="1325880" cy="292608"/>
          </a:xfrm>
          <a:prstGeom prst="rect">
            <a:avLst/>
          </a:prstGeom>
          <a:solidFill>
            <a:srgbClr val="1A1A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617720" y="2980944"/>
            <a:ext cx="1325880" cy="292608"/>
          </a:xfrm>
          <a:prstGeom prst="rect">
            <a:avLst/>
          </a:prstGeom>
          <a:solidFill>
            <a:srgbClr val="1A1A35"/>
          </a:solidFill>
          <a:ln w="12700">
            <a:solidFill>
              <a:srgbClr val="1A252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943600" y="2980944"/>
            <a:ext cx="1325880" cy="292608"/>
          </a:xfrm>
          <a:prstGeom prst="rect">
            <a:avLst/>
          </a:prstGeom>
          <a:solidFill>
            <a:srgbClr val="1A1A35"/>
          </a:solidFill>
          <a:ln w="12700">
            <a:solidFill>
              <a:srgbClr val="251A1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269480" y="2980944"/>
            <a:ext cx="1325880" cy="292608"/>
          </a:xfrm>
          <a:prstGeom prst="rect">
            <a:avLst/>
          </a:prstGeom>
          <a:solidFill>
            <a:srgbClr val="1A1A35"/>
          </a:solidFill>
          <a:ln w="12700">
            <a:solidFill>
              <a:srgbClr val="251A2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29184" y="29809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Auth+DB（認証+進捗保存）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2313432" y="2980944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4CA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¥0〜</a:t>
            </a:r>
            <a:endParaRPr lang="en-US" sz="870" dirty="0"/>
          </a:p>
        </p:txBody>
      </p:sp>
      <p:sp>
        <p:nvSpPr>
          <p:cNvPr id="97" name="Text 95"/>
          <p:cNvSpPr/>
          <p:nvPr/>
        </p:nvSpPr>
        <p:spPr>
          <a:xfrm>
            <a:off x="3319272" y="2980944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98" name="Text 96"/>
          <p:cNvSpPr/>
          <p:nvPr/>
        </p:nvSpPr>
        <p:spPr>
          <a:xfrm>
            <a:off x="4645152" y="2980944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99" name="Text 97"/>
          <p:cNvSpPr/>
          <p:nvPr/>
        </p:nvSpPr>
        <p:spPr>
          <a:xfrm>
            <a:off x="5971032" y="2980944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100" name="Text 98"/>
          <p:cNvSpPr/>
          <p:nvPr/>
        </p:nvSpPr>
        <p:spPr>
          <a:xfrm>
            <a:off x="7296912" y="2980944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274320" y="3273552"/>
            <a:ext cx="2011680" cy="292608"/>
          </a:xfrm>
          <a:prstGeom prst="rect">
            <a:avLst/>
          </a:prstGeom>
          <a:solidFill>
            <a:srgbClr val="121225"/>
          </a:solidFill>
          <a:ln/>
        </p:spPr>
      </p:sp>
      <p:sp>
        <p:nvSpPr>
          <p:cNvPr id="102" name="Shape 100"/>
          <p:cNvSpPr/>
          <p:nvPr/>
        </p:nvSpPr>
        <p:spPr>
          <a:xfrm>
            <a:off x="2286000" y="3273552"/>
            <a:ext cx="1005840" cy="292608"/>
          </a:xfrm>
          <a:prstGeom prst="rect">
            <a:avLst/>
          </a:prstGeom>
          <a:solidFill>
            <a:srgbClr val="121225"/>
          </a:solidFill>
          <a:ln/>
        </p:spPr>
      </p:sp>
      <p:sp>
        <p:nvSpPr>
          <p:cNvPr id="103" name="Shape 101"/>
          <p:cNvSpPr/>
          <p:nvPr/>
        </p:nvSpPr>
        <p:spPr>
          <a:xfrm>
            <a:off x="3291840" y="3273552"/>
            <a:ext cx="1325880" cy="292608"/>
          </a:xfrm>
          <a:prstGeom prst="rect">
            <a:avLst/>
          </a:prstGeom>
          <a:solidFill>
            <a:srgbClr val="12122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617720" y="3273552"/>
            <a:ext cx="1325880" cy="292608"/>
          </a:xfrm>
          <a:prstGeom prst="rect">
            <a:avLst/>
          </a:prstGeom>
          <a:solidFill>
            <a:srgbClr val="121225"/>
          </a:solidFill>
          <a:ln w="12700">
            <a:solidFill>
              <a:srgbClr val="1A252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943600" y="3273552"/>
            <a:ext cx="1325880" cy="292608"/>
          </a:xfrm>
          <a:prstGeom prst="rect">
            <a:avLst/>
          </a:prstGeom>
          <a:solidFill>
            <a:srgbClr val="121225"/>
          </a:solidFill>
          <a:ln w="12700">
            <a:solidFill>
              <a:srgbClr val="251A1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269480" y="3273552"/>
            <a:ext cx="1325880" cy="292608"/>
          </a:xfrm>
          <a:prstGeom prst="rect">
            <a:avLst/>
          </a:prstGeom>
          <a:solidFill>
            <a:srgbClr val="121225"/>
          </a:solidFill>
          <a:ln w="12700">
            <a:solidFill>
              <a:srgbClr val="251A25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29184" y="32735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Vimeo限定公開（動画配信）</a:t>
            </a:r>
            <a:endParaRPr lang="en-US" sz="950" dirty="0"/>
          </a:p>
        </p:txBody>
      </p:sp>
      <p:sp>
        <p:nvSpPr>
          <p:cNvPr id="108" name="Text 106"/>
          <p:cNvSpPr/>
          <p:nvPr/>
        </p:nvSpPr>
        <p:spPr>
          <a:xfrm>
            <a:off x="2313432" y="3273552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¥0〜1,500円</a:t>
            </a:r>
            <a:endParaRPr lang="en-US" sz="870" dirty="0"/>
          </a:p>
        </p:txBody>
      </p:sp>
      <p:sp>
        <p:nvSpPr>
          <p:cNvPr id="109" name="Text 107"/>
          <p:cNvSpPr/>
          <p:nvPr/>
        </p:nvSpPr>
        <p:spPr>
          <a:xfrm>
            <a:off x="3319272" y="327355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110" name="Text 108"/>
          <p:cNvSpPr/>
          <p:nvPr/>
        </p:nvSpPr>
        <p:spPr>
          <a:xfrm>
            <a:off x="4645152" y="327355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111" name="Text 109"/>
          <p:cNvSpPr/>
          <p:nvPr/>
        </p:nvSpPr>
        <p:spPr>
          <a:xfrm>
            <a:off x="5971032" y="327355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112" name="Text 110"/>
          <p:cNvSpPr/>
          <p:nvPr/>
        </p:nvSpPr>
        <p:spPr>
          <a:xfrm>
            <a:off x="7296912" y="327355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113" name="Shape 111"/>
          <p:cNvSpPr/>
          <p:nvPr/>
        </p:nvSpPr>
        <p:spPr>
          <a:xfrm>
            <a:off x="274320" y="3566160"/>
            <a:ext cx="2011680" cy="292608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114" name="Shape 112"/>
          <p:cNvSpPr/>
          <p:nvPr/>
        </p:nvSpPr>
        <p:spPr>
          <a:xfrm>
            <a:off x="2286000" y="3566160"/>
            <a:ext cx="1005840" cy="292608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115" name="Shape 113"/>
          <p:cNvSpPr/>
          <p:nvPr/>
        </p:nvSpPr>
        <p:spPr>
          <a:xfrm>
            <a:off x="3291840" y="3566160"/>
            <a:ext cx="1325880" cy="292608"/>
          </a:xfrm>
          <a:prstGeom prst="rect">
            <a:avLst/>
          </a:prstGeom>
          <a:solidFill>
            <a:srgbClr val="1A1A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617720" y="3566160"/>
            <a:ext cx="1325880" cy="292608"/>
          </a:xfrm>
          <a:prstGeom prst="rect">
            <a:avLst/>
          </a:prstGeom>
          <a:solidFill>
            <a:srgbClr val="1A1A35"/>
          </a:solidFill>
          <a:ln w="12700">
            <a:solidFill>
              <a:srgbClr val="1A252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943600" y="3566160"/>
            <a:ext cx="1325880" cy="292608"/>
          </a:xfrm>
          <a:prstGeom prst="rect">
            <a:avLst/>
          </a:prstGeom>
          <a:solidFill>
            <a:srgbClr val="1A1A35"/>
          </a:solidFill>
          <a:ln w="12700">
            <a:solidFill>
              <a:srgbClr val="251A1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269480" y="3566160"/>
            <a:ext cx="1325880" cy="292608"/>
          </a:xfrm>
          <a:prstGeom prst="rect">
            <a:avLst/>
          </a:prstGeom>
          <a:solidFill>
            <a:srgbClr val="1A1A35"/>
          </a:solidFill>
          <a:ln w="12700">
            <a:solidFill>
              <a:srgbClr val="251A25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29184" y="3566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マルチデバイス対応（進捗同期）</a:t>
            </a:r>
            <a:endParaRPr lang="en-US" sz="950" dirty="0"/>
          </a:p>
        </p:txBody>
      </p:sp>
      <p:sp>
        <p:nvSpPr>
          <p:cNvPr id="120" name="Text 118"/>
          <p:cNvSpPr/>
          <p:nvPr/>
        </p:nvSpPr>
        <p:spPr>
          <a:xfrm>
            <a:off x="2313432" y="3566160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70" dirty="0"/>
          </a:p>
        </p:txBody>
      </p:sp>
      <p:sp>
        <p:nvSpPr>
          <p:cNvPr id="121" name="Text 119"/>
          <p:cNvSpPr/>
          <p:nvPr/>
        </p:nvSpPr>
        <p:spPr>
          <a:xfrm>
            <a:off x="3319272" y="3566160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122" name="Text 120"/>
          <p:cNvSpPr/>
          <p:nvPr/>
        </p:nvSpPr>
        <p:spPr>
          <a:xfrm>
            <a:off x="4645152" y="3566160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123" name="Text 121"/>
          <p:cNvSpPr/>
          <p:nvPr/>
        </p:nvSpPr>
        <p:spPr>
          <a:xfrm>
            <a:off x="5971032" y="3566160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124" name="Text 122"/>
          <p:cNvSpPr/>
          <p:nvPr/>
        </p:nvSpPr>
        <p:spPr>
          <a:xfrm>
            <a:off x="7296912" y="3566160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125" name="Shape 123"/>
          <p:cNvSpPr/>
          <p:nvPr/>
        </p:nvSpPr>
        <p:spPr>
          <a:xfrm>
            <a:off x="274320" y="3858768"/>
            <a:ext cx="2011680" cy="292608"/>
          </a:xfrm>
          <a:prstGeom prst="rect">
            <a:avLst/>
          </a:prstGeom>
          <a:solidFill>
            <a:srgbClr val="121225"/>
          </a:solidFill>
          <a:ln/>
        </p:spPr>
      </p:sp>
      <p:sp>
        <p:nvSpPr>
          <p:cNvPr id="126" name="Shape 124"/>
          <p:cNvSpPr/>
          <p:nvPr/>
        </p:nvSpPr>
        <p:spPr>
          <a:xfrm>
            <a:off x="2286000" y="3858768"/>
            <a:ext cx="1005840" cy="292608"/>
          </a:xfrm>
          <a:prstGeom prst="rect">
            <a:avLst/>
          </a:prstGeom>
          <a:solidFill>
            <a:srgbClr val="121225"/>
          </a:solidFill>
          <a:ln/>
        </p:spPr>
      </p:sp>
      <p:sp>
        <p:nvSpPr>
          <p:cNvPr id="127" name="Shape 125"/>
          <p:cNvSpPr/>
          <p:nvPr/>
        </p:nvSpPr>
        <p:spPr>
          <a:xfrm>
            <a:off x="3291840" y="3858768"/>
            <a:ext cx="1325880" cy="292608"/>
          </a:xfrm>
          <a:prstGeom prst="rect">
            <a:avLst/>
          </a:prstGeom>
          <a:solidFill>
            <a:srgbClr val="12122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617720" y="3858768"/>
            <a:ext cx="1325880" cy="292608"/>
          </a:xfrm>
          <a:prstGeom prst="rect">
            <a:avLst/>
          </a:prstGeom>
          <a:solidFill>
            <a:srgbClr val="121225"/>
          </a:solidFill>
          <a:ln w="12700">
            <a:solidFill>
              <a:srgbClr val="1A252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943600" y="3858768"/>
            <a:ext cx="1325880" cy="292608"/>
          </a:xfrm>
          <a:prstGeom prst="rect">
            <a:avLst/>
          </a:prstGeom>
          <a:solidFill>
            <a:srgbClr val="121225"/>
          </a:solidFill>
          <a:ln w="12700">
            <a:solidFill>
              <a:srgbClr val="251A1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269480" y="3858768"/>
            <a:ext cx="1325880" cy="292608"/>
          </a:xfrm>
          <a:prstGeom prst="rect">
            <a:avLst/>
          </a:prstGeom>
          <a:solidFill>
            <a:srgbClr val="121225"/>
          </a:solidFill>
          <a:ln w="12700">
            <a:solidFill>
              <a:srgbClr val="251A25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329184" y="38587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開発費（Claude Code）</a:t>
            </a:r>
            <a:endParaRPr lang="en-US" sz="950" dirty="0"/>
          </a:p>
        </p:txBody>
      </p:sp>
      <p:sp>
        <p:nvSpPr>
          <p:cNvPr id="132" name="Text 130"/>
          <p:cNvSpPr/>
          <p:nvPr/>
        </p:nvSpPr>
        <p:spPr>
          <a:xfrm>
            <a:off x="2313432" y="3858768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4CA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¥0 ※P4は工数増</a:t>
            </a:r>
            <a:endParaRPr lang="en-US" sz="870" dirty="0"/>
          </a:p>
        </p:txBody>
      </p:sp>
      <p:sp>
        <p:nvSpPr>
          <p:cNvPr id="133" name="Text 131"/>
          <p:cNvSpPr/>
          <p:nvPr/>
        </p:nvSpPr>
        <p:spPr>
          <a:xfrm>
            <a:off x="3319272" y="3858768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134" name="Text 132"/>
          <p:cNvSpPr/>
          <p:nvPr/>
        </p:nvSpPr>
        <p:spPr>
          <a:xfrm>
            <a:off x="4645152" y="3858768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135" name="Text 133"/>
          <p:cNvSpPr/>
          <p:nvPr/>
        </p:nvSpPr>
        <p:spPr>
          <a:xfrm>
            <a:off x="5971032" y="3858768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136" name="Text 134"/>
          <p:cNvSpPr/>
          <p:nvPr/>
        </p:nvSpPr>
        <p:spPr>
          <a:xfrm>
            <a:off x="7296912" y="3858768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137" name="Shape 135"/>
          <p:cNvSpPr/>
          <p:nvPr/>
        </p:nvSpPr>
        <p:spPr>
          <a:xfrm>
            <a:off x="274320" y="4197096"/>
            <a:ext cx="3017520" cy="365760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138" name="Text 136"/>
          <p:cNvSpPr/>
          <p:nvPr/>
        </p:nvSpPr>
        <p:spPr>
          <a:xfrm>
            <a:off x="329184" y="41970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合計 / 月</a:t>
            </a:r>
            <a:endParaRPr lang="en-US" sz="1150" dirty="0"/>
          </a:p>
        </p:txBody>
      </p:sp>
      <p:sp>
        <p:nvSpPr>
          <p:cNvPr id="139" name="Shape 137"/>
          <p:cNvSpPr/>
          <p:nvPr/>
        </p:nvSpPr>
        <p:spPr>
          <a:xfrm>
            <a:off x="3291840" y="4197096"/>
            <a:ext cx="1325880" cy="365760"/>
          </a:xfrm>
          <a:prstGeom prst="rect">
            <a:avLst/>
          </a:prstGeom>
          <a:solidFill>
            <a:srgbClr val="4A9EDB"/>
          </a:solidFill>
          <a:ln/>
        </p:spPr>
      </p:sp>
      <p:sp>
        <p:nvSpPr>
          <p:cNvPr id="140" name="Text 138"/>
          <p:cNvSpPr/>
          <p:nvPr/>
        </p:nvSpPr>
        <p:spPr>
          <a:xfrm>
            <a:off x="3319272" y="4197096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約20,000円</a:t>
            </a:r>
            <a:endParaRPr lang="en-US" sz="950" dirty="0"/>
          </a:p>
        </p:txBody>
      </p:sp>
      <p:sp>
        <p:nvSpPr>
          <p:cNvPr id="141" name="Shape 139"/>
          <p:cNvSpPr/>
          <p:nvPr/>
        </p:nvSpPr>
        <p:spPr>
          <a:xfrm>
            <a:off x="4617720" y="4197096"/>
            <a:ext cx="1325880" cy="365760"/>
          </a:xfrm>
          <a:prstGeom prst="rect">
            <a:avLst/>
          </a:prstGeom>
          <a:solidFill>
            <a:srgbClr val="4CAF73"/>
          </a:solidFill>
          <a:ln/>
        </p:spPr>
      </p:sp>
      <p:sp>
        <p:nvSpPr>
          <p:cNvPr id="142" name="Text 140"/>
          <p:cNvSpPr/>
          <p:nvPr/>
        </p:nvSpPr>
        <p:spPr>
          <a:xfrm>
            <a:off x="4645152" y="4197096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約20,150円</a:t>
            </a:r>
            <a:endParaRPr lang="en-US" sz="950" dirty="0"/>
          </a:p>
        </p:txBody>
      </p:sp>
      <p:sp>
        <p:nvSpPr>
          <p:cNvPr id="143" name="Shape 141"/>
          <p:cNvSpPr/>
          <p:nvPr/>
        </p:nvSpPr>
        <p:spPr>
          <a:xfrm>
            <a:off x="5943600" y="4197096"/>
            <a:ext cx="1325880" cy="3657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4" name="Text 142"/>
          <p:cNvSpPr/>
          <p:nvPr/>
        </p:nvSpPr>
        <p:spPr>
          <a:xfrm>
            <a:off x="5971032" y="4197096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約23,000〜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D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30,000円</a:t>
            </a:r>
            <a:endParaRPr lang="en-US" sz="950" dirty="0"/>
          </a:p>
        </p:txBody>
      </p:sp>
      <p:sp>
        <p:nvSpPr>
          <p:cNvPr id="145" name="Shape 143"/>
          <p:cNvSpPr/>
          <p:nvPr/>
        </p:nvSpPr>
        <p:spPr>
          <a:xfrm>
            <a:off x="7269480" y="4197096"/>
            <a:ext cx="1325880" cy="3657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46" name="Text 144"/>
          <p:cNvSpPr/>
          <p:nvPr/>
        </p:nvSpPr>
        <p:spPr>
          <a:xfrm>
            <a:off x="7296912" y="4197096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手数料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D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＋数百円</a:t>
            </a:r>
            <a:endParaRPr lang="en-US" sz="950" dirty="0"/>
          </a:p>
        </p:txBody>
      </p:sp>
      <p:sp>
        <p:nvSpPr>
          <p:cNvPr id="147" name="Shape 145"/>
          <p:cNvSpPr/>
          <p:nvPr/>
        </p:nvSpPr>
        <p:spPr>
          <a:xfrm>
            <a:off x="274320" y="4617720"/>
            <a:ext cx="8595360" cy="274320"/>
          </a:xfrm>
          <a:prstGeom prst="roundRect">
            <a:avLst>
              <a:gd name="adj" fmla="val 20000"/>
            </a:avLst>
          </a:prstGeom>
          <a:solidFill>
            <a:srgbClr val="251A25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パターン4(UTAGEなし)：月額固定費はほぼ¥0で、Supabaseの無料DBによりマルチデバイス対応も可能。ただし決済・認証・動画保護を新規に作り込む分、初期開発工数が増える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"/>
            <a:ext cx="3200400" cy="3200400"/>
          </a:xfrm>
          <a:prstGeom prst="ellipse">
            <a:avLst/>
          </a:prstGeom>
          <a:solidFill>
            <a:srgbClr val="7B5EA7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ネクストステップ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2743200" cy="3703320"/>
          </a:xfrm>
          <a:prstGeom prst="roundRect">
            <a:avLst>
              <a:gd name="adj" fmla="val 3333"/>
            </a:avLst>
          </a:prstGeom>
          <a:solidFill>
            <a:srgbClr val="1A1A35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960120"/>
            <a:ext cx="1188720" cy="347472"/>
          </a:xfrm>
          <a:prstGeom prst="roundRect">
            <a:avLst>
              <a:gd name="adj" fmla="val 23684"/>
            </a:avLst>
          </a:prstGeom>
          <a:solidFill>
            <a:srgbClr val="4A9EDB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9784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783080" y="1005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1〜2週間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要件ヒアリング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動画・教材の本数と構成確認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7157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UTAGEコース設計の確認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4015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RPGクエスト設計・ステータス設計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91840" y="822960"/>
            <a:ext cx="2743200" cy="3703320"/>
          </a:xfrm>
          <a:prstGeom prst="roundRect">
            <a:avLst>
              <a:gd name="adj" fmla="val 3333"/>
            </a:avLst>
          </a:prstGeom>
          <a:solidFill>
            <a:srgbClr val="1A1A3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56432" y="960120"/>
            <a:ext cx="1188720" cy="347472"/>
          </a:xfrm>
          <a:prstGeom prst="roundRect">
            <a:avLst>
              <a:gd name="adj" fmla="val 23684"/>
            </a:avLst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3456432" y="9784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09160" y="1005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2〜3週間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プロトタイプ制作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29000" y="2029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16タイプアバター選択UI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29000" y="27157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4ステータス表示・バー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429000" y="34015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基本クエストリスト完成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822960"/>
            <a:ext cx="2743200" cy="3703320"/>
          </a:xfrm>
          <a:prstGeom prst="roundRect">
            <a:avLst>
              <a:gd name="adj" fmla="val 3333"/>
            </a:avLst>
          </a:prstGeom>
          <a:solidFill>
            <a:srgbClr val="1A1A35"/>
          </a:solidFill>
          <a:ln w="12700">
            <a:solidFill>
              <a:srgbClr val="4CAF7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82512" y="960120"/>
            <a:ext cx="1188720" cy="347472"/>
          </a:xfrm>
          <a:prstGeom prst="roundRect">
            <a:avLst>
              <a:gd name="adj" fmla="val 23684"/>
            </a:avLst>
          </a:prstGeom>
          <a:solidFill>
            <a:srgbClr val="4CAF73"/>
          </a:solidFill>
          <a:ln/>
        </p:spPr>
      </p:sp>
      <p:sp>
        <p:nvSpPr>
          <p:cNvPr id="23" name="Text 21"/>
          <p:cNvSpPr/>
          <p:nvPr/>
        </p:nvSpPr>
        <p:spPr>
          <a:xfrm>
            <a:off x="6382512" y="9784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635240" y="1005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1週間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55080" y="14173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リリース・調整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55080" y="2029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GitHub Pagesでデプロイ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55080" y="27157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UTAGEとのリンク設置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55080" y="34015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ユーザーFBで継続改善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371600" y="4681728"/>
            <a:ext cx="6400800" cy="365760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/>
        </p:spPr>
      </p:sp>
      <p:sp>
        <p:nvSpPr>
          <p:cNvPr id="30" name="Text 28"/>
          <p:cNvSpPr/>
          <p:nvPr/>
        </p:nvSpPr>
        <p:spPr>
          <a:xfrm>
            <a:off x="1371600" y="470001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まず「Phase 1 要件ヒアリング」の日程を合わせましょう！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2026-07-18T16:39:00Z</dcterms:created>
  <dcterms:modified xsi:type="dcterms:W3CDTF">2026-07-18T16:39:00Z</dcterms:modified>
</cp:coreProperties>
</file>