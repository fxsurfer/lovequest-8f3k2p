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7B5EA7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3474720"/>
            <a:ext cx="2560320" cy="2560320"/>
          </a:xfrm>
          <a:prstGeom prst="ellipse">
            <a:avLst/>
          </a:prstGeom>
          <a:solidFill>
            <a:srgbClr val="E94560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583680" y="-365760"/>
            <a:ext cx="1645920" cy="1645920"/>
          </a:xfrm>
          <a:prstGeom prst="ellipse">
            <a:avLst/>
          </a:prstGeom>
          <a:solidFill>
            <a:srgbClr val="F5A623">
              <a:alpha val="1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b="1" spc="600" kern="0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LOVEQUEST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1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MASTERS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2926080" y="2907792"/>
            <a:ext cx="329184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0175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RPG型 恋愛学習プラットフォーム  構築提案書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4930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企画・監修: ジョニー   ×   構築: リョータロー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コンセプト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恋愛を「人生RPG」にする — 出会いのテクニックではなく、生き方のゲーミフィケーション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131673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⚔️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レベルアップ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68249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仮説・検証の場数を踏む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131673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04488" y="129844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武器を持つ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904488" y="168249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外見力・デート力を磨く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18872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81928" y="131673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🧙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30568" y="129844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仲間を増やす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30568" y="168249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オフ会・勉強会で同士を作る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296265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78408" y="294436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ジャブ変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78408" y="332841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16タイプを操れるようになる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5848" y="296265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904488" y="294436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攻略法を持つ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904488" y="332841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タイプ別コミュニケーション術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283464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1928" y="296265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👑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30568" y="2944368"/>
            <a:ext cx="1947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ラスボスを倒す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30568" y="3328416"/>
            <a:ext cx="1947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人生の目標を達成する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システム構成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「既存プラットフォーム」と「RPGアプリ」の役割分担でDevOpsコストをゼロに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618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(既存プラットフォーム・保守不要)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084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会員管理・ログイン認証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 決済・サブスク管理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🎥 動画コンテンツ配信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3741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メルマガ・LINE配信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8039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コンテンツアクセス制御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24528" y="2907792"/>
            <a:ext cx="713232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2825496"/>
            <a:ext cx="91440" cy="20116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0175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A623"/>
                </a:solidFill>
              </a:rPr>
              <a:t>リンク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0" y="1170432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12618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RPGダッシュボード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1206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(Claude Code製・GitHub Pages・無料)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12080" y="2084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16タイプアバター選択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4ステータス可視化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12080" y="29443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クエスト達成度管理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12080" y="33741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レベルアップ演出・通知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38039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進捗保存（サーバーレス）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4709160"/>
            <a:ext cx="8412480" cy="329184"/>
          </a:xfrm>
          <a:prstGeom prst="roundRect">
            <a:avLst>
              <a:gd name="adj" fmla="val 13889"/>
            </a:avLst>
          </a:prstGeom>
          <a:solidFill>
            <a:srgbClr val="0D1F0D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サーバー管理ゼロ・月額追加費用ゼロ・独自ドメイン対応可能（例: lovequest-masters.jp）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ユーザー体験フロー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078992"/>
            <a:ext cx="566928" cy="566928"/>
          </a:xfrm>
          <a:prstGeom prst="ellipse">
            <a:avLst/>
          </a:prstGeom>
          <a:solidFill>
            <a:srgbClr val="4A9ED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UTAGEで入会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会員登録・決済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コース教材にアクセス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83664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993392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96312" y="1078992"/>
            <a:ext cx="566928" cy="566928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12" name="Text 10"/>
          <p:cNvSpPr/>
          <p:nvPr/>
        </p:nvSpPr>
        <p:spPr>
          <a:xfrm>
            <a:off x="2496312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84832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E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アバター選択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84832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16タイプから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自分のキャラ選択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2736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12464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1078992"/>
            <a:ext cx="566928" cy="5669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8" name="Text 16"/>
          <p:cNvSpPr/>
          <p:nvPr/>
        </p:nvSpPr>
        <p:spPr>
          <a:xfrm>
            <a:off x="4215384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803904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教材で学ぶ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3904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動画・テキスト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クエスト形式で進める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21808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31536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34456" y="1078992"/>
            <a:ext cx="566928" cy="566928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4" name="Text 22"/>
          <p:cNvSpPr/>
          <p:nvPr/>
        </p:nvSpPr>
        <p:spPr>
          <a:xfrm>
            <a:off x="5934456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22976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レベルアップ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22976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4ステータスが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学習で上昇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40880" y="21945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50608" y="9144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53528" y="1078992"/>
            <a:ext cx="566928" cy="566928"/>
          </a:xfrm>
          <a:prstGeom prst="ellipse">
            <a:avLst/>
          </a:prstGeom>
          <a:solidFill>
            <a:srgbClr val="4CAF73"/>
          </a:solidFill>
          <a:ln/>
        </p:spPr>
      </p:sp>
      <p:sp>
        <p:nvSpPr>
          <p:cNvPr id="30" name="Text 28"/>
          <p:cNvSpPr/>
          <p:nvPr/>
        </p:nvSpPr>
        <p:spPr>
          <a:xfrm>
            <a:off x="7653528" y="108813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242048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仲間と実践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42048" y="230428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オフ会・勉強会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コミュニティで活動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恋愛を通じて、人生のラスボスを攻略する旅へ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アバター選択 — 16タイプ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入会後まず自分のタイプを選ぶ。このキャラクターで冒険が始まる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⚔️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93192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狂戦士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35608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81328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勇者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23744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🧙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569464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魔法戦士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11880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聖戦士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0016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45736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45736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姫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88152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🏇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833872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騎士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76288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22008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🗡️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22008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盗賊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64424" y="969264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10144" y="10332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🧚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10144" y="148132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妖精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472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🌿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93192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シスター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435608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81328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🪖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481328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兵士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23744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9464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2569464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牧師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11880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0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🦉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657600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賢者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00016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45736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🔮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745736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魔道士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788152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33872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🥷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833872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忍者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76288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22008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6922008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道化師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64424" y="1947672"/>
            <a:ext cx="1051560" cy="932688"/>
          </a:xfrm>
          <a:prstGeom prst="roundRect">
            <a:avLst>
              <a:gd name="adj" fmla="val 686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10144" y="20116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010144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占い師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663440"/>
            <a:ext cx="164592" cy="164592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54" name="Text 52"/>
          <p:cNvSpPr/>
          <p:nvPr/>
        </p:nvSpPr>
        <p:spPr>
          <a:xfrm>
            <a:off x="67665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戦士系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560320" y="4663440"/>
            <a:ext cx="164592" cy="16459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56" name="Text 54"/>
          <p:cNvSpPr/>
          <p:nvPr/>
        </p:nvSpPr>
        <p:spPr>
          <a:xfrm>
            <a:off x="277977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💃 踊り子系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663440" y="4663440"/>
            <a:ext cx="164592" cy="164592"/>
          </a:xfrm>
          <a:prstGeom prst="ellipse">
            <a:avLst/>
          </a:prstGeom>
          <a:solidFill>
            <a:srgbClr val="4CAF73"/>
          </a:solidFill>
          <a:ln/>
        </p:spPr>
      </p:sp>
      <p:sp>
        <p:nvSpPr>
          <p:cNvPr id="58" name="Text 56"/>
          <p:cNvSpPr/>
          <p:nvPr/>
        </p:nvSpPr>
        <p:spPr>
          <a:xfrm>
            <a:off x="488289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🕊️ 僧侶系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766560" y="4663440"/>
            <a:ext cx="164592" cy="164592"/>
          </a:xfrm>
          <a:prstGeom prst="ellipse">
            <a:avLst/>
          </a:prstGeom>
          <a:solidFill>
            <a:srgbClr val="4A9EDB"/>
          </a:solidFill>
          <a:ln/>
        </p:spPr>
      </p:sp>
      <p:sp>
        <p:nvSpPr>
          <p:cNvPr id="60" name="Text 58"/>
          <p:cNvSpPr/>
          <p:nvPr/>
        </p:nvSpPr>
        <p:spPr>
          <a:xfrm>
            <a:off x="6986016" y="4636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魔法使い系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ステータス &amp; クエストシステム（UI イメージ）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2011680" cy="4206240"/>
          </a:xfrm>
          <a:prstGeom prst="roundRect">
            <a:avLst>
              <a:gd name="adj" fmla="val 4545"/>
            </a:avLst>
          </a:prstGeom>
          <a:solidFill>
            <a:srgbClr val="1A1A35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🧙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魔法戦士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Lv.4  冒険者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724912"/>
            <a:ext cx="1737360" cy="201168"/>
          </a:xfrm>
          <a:prstGeom prst="roundRect">
            <a:avLst>
              <a:gd name="adj" fmla="val 22727"/>
            </a:avLst>
          </a:prstGeom>
          <a:solidFill>
            <a:srgbClr val="2A2A4A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724912"/>
            <a:ext cx="1077163" cy="201168"/>
          </a:xfrm>
          <a:prstGeom prst="roundRect">
            <a:avLst>
              <a:gd name="adj" fmla="val 22727"/>
            </a:avLst>
          </a:prstGeom>
          <a:solidFill>
            <a:srgbClr val="7B5EA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809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 62%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06040" y="7498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ステータス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06040" y="12070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外見力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94760" y="12070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1271016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15" name="Shape 13"/>
          <p:cNvSpPr/>
          <p:nvPr/>
        </p:nvSpPr>
        <p:spPr>
          <a:xfrm>
            <a:off x="4315968" y="1271016"/>
            <a:ext cx="1069848" cy="18288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/>
        </p:spPr>
      </p:sp>
      <p:sp>
        <p:nvSpPr>
          <p:cNvPr id="16" name="Text 14"/>
          <p:cNvSpPr/>
          <p:nvPr/>
        </p:nvSpPr>
        <p:spPr>
          <a:xfrm>
            <a:off x="6007608" y="12070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06040" y="195681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デート力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19568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15968" y="2020824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315968" y="202082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007608" y="195681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06040" y="270662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💫 魅了力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94760" y="27066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5968" y="2770632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25" name="Shape 23"/>
          <p:cNvSpPr/>
          <p:nvPr/>
        </p:nvSpPr>
        <p:spPr>
          <a:xfrm>
            <a:off x="4315968" y="2770632"/>
            <a:ext cx="905256" cy="182880"/>
          </a:xfrm>
          <a:prstGeom prst="roundRect">
            <a:avLst>
              <a:gd name="adj" fmla="val 20000"/>
            </a:avLst>
          </a:prstGeom>
          <a:solidFill>
            <a:srgbClr val="7B5EA7"/>
          </a:solidFill>
          <a:ln/>
        </p:spPr>
      </p:sp>
      <p:sp>
        <p:nvSpPr>
          <p:cNvPr id="26" name="Text 24"/>
          <p:cNvSpPr/>
          <p:nvPr/>
        </p:nvSpPr>
        <p:spPr>
          <a:xfrm>
            <a:off x="6007608" y="270662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06040" y="345643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コミュ力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94760" y="345643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Lv.3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15968" y="352044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A2A4A"/>
          </a:solidFill>
          <a:ln/>
        </p:spPr>
      </p:sp>
      <p:sp>
        <p:nvSpPr>
          <p:cNvPr id="30" name="Shape 28"/>
          <p:cNvSpPr/>
          <p:nvPr/>
        </p:nvSpPr>
        <p:spPr>
          <a:xfrm>
            <a:off x="4315968" y="3520440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CAF73"/>
          </a:solidFill>
          <a:ln/>
        </p:spPr>
      </p:sp>
      <p:sp>
        <p:nvSpPr>
          <p:cNvPr id="31" name="Text 29"/>
          <p:cNvSpPr/>
          <p:nvPr/>
        </p:nvSpPr>
        <p:spPr>
          <a:xfrm>
            <a:off x="6007608" y="345643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7498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クエスト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92240" y="1207008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0D1F0D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1289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494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タイプ判定マスター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92240" y="1828800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0D1F0D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65392" y="1911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19202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外見力Lv.5達成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92240" y="2450592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1A1A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65392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949440" y="254203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初回デート成功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492240" y="307238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1A1A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65392" y="3154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⬜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31638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2回目デートOK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92240" y="3694176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1A1A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⬜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949440" y="378561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交際スタート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606040" y="42976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14143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0" y="44074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🌟 総合 Lv.4   次まで ████░░░  62%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28016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費用概算 — パターン別比較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274320" y="4937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UTAGEは必須ではない。ニーズに合わせてパターンを選択できます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011680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0" y="804672"/>
            <a:ext cx="1005840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7" name="Shape 5"/>
          <p:cNvSpPr/>
          <p:nvPr/>
        </p:nvSpPr>
        <p:spPr>
          <a:xfrm>
            <a:off x="3291840" y="804672"/>
            <a:ext cx="1325880" cy="384048"/>
          </a:xfrm>
          <a:prstGeom prst="rect">
            <a:avLst/>
          </a:prstGeom>
          <a:solidFill>
            <a:srgbClr val="1A25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804672"/>
            <a:ext cx="1325880" cy="384048"/>
          </a:xfrm>
          <a:prstGeom prst="rect">
            <a:avLst/>
          </a:prstGeom>
          <a:solidFill>
            <a:srgbClr val="1A2520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804672"/>
            <a:ext cx="1325880" cy="384048"/>
          </a:xfrm>
          <a:prstGeom prst="rect">
            <a:avLst/>
          </a:prstGeom>
          <a:solidFill>
            <a:srgbClr val="251A1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804672"/>
            <a:ext cx="1325880" cy="384048"/>
          </a:xfrm>
          <a:prstGeom prst="rect">
            <a:avLst/>
          </a:prstGeom>
          <a:solidFill>
            <a:srgbClr val="251A2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" y="822960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項目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22576" y="822960"/>
            <a:ext cx="932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費用/月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28416" y="82296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超ミニマム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54296" y="82296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標準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★推奨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80176" y="82296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AWS本格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06056" y="82296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UTAGE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1188720"/>
            <a:ext cx="201168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18" name="Shape 16"/>
          <p:cNvSpPr/>
          <p:nvPr/>
        </p:nvSpPr>
        <p:spPr>
          <a:xfrm>
            <a:off x="2286000" y="1188720"/>
            <a:ext cx="100584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19" name="Shape 17"/>
          <p:cNvSpPr/>
          <p:nvPr/>
        </p:nvSpPr>
        <p:spPr>
          <a:xfrm>
            <a:off x="3291840" y="1188720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1188720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188720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69480" y="1188720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" y="11887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UTAGE（会員管理・動画配信）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313432" y="118872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約20,000円</a:t>
            </a:r>
            <a:endParaRPr lang="en-US" sz="870" dirty="0"/>
          </a:p>
        </p:txBody>
      </p:sp>
      <p:sp>
        <p:nvSpPr>
          <p:cNvPr id="25" name="Text 23"/>
          <p:cNvSpPr/>
          <p:nvPr/>
        </p:nvSpPr>
        <p:spPr>
          <a:xfrm>
            <a:off x="3319272" y="118872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645152" y="118872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71032" y="118872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296912" y="118872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1499616"/>
            <a:ext cx="201168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30" name="Shape 28"/>
          <p:cNvSpPr/>
          <p:nvPr/>
        </p:nvSpPr>
        <p:spPr>
          <a:xfrm>
            <a:off x="2286000" y="1499616"/>
            <a:ext cx="100584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31" name="Shape 29"/>
          <p:cNvSpPr/>
          <p:nvPr/>
        </p:nvSpPr>
        <p:spPr>
          <a:xfrm>
            <a:off x="3291840" y="1499616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17720" y="1499616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1499616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69480" y="1499616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149961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Pages（RPGアプリ）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313432" y="1499616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¥0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3319272" y="149961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645152" y="149961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71032" y="149961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296912" y="149961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74320" y="1810512"/>
            <a:ext cx="201168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42" name="Shape 40"/>
          <p:cNvSpPr/>
          <p:nvPr/>
        </p:nvSpPr>
        <p:spPr>
          <a:xfrm>
            <a:off x="2286000" y="1810512"/>
            <a:ext cx="100584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43" name="Shape 41"/>
          <p:cNvSpPr/>
          <p:nvPr/>
        </p:nvSpPr>
        <p:spPr>
          <a:xfrm>
            <a:off x="3291840" y="1810512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17720" y="1810512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1810512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9480" y="1810512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9184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独自ドメイン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313432" y="1810512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約150円</a:t>
            </a:r>
            <a:endParaRPr lang="en-US" sz="870" dirty="0"/>
          </a:p>
        </p:txBody>
      </p:sp>
      <p:sp>
        <p:nvSpPr>
          <p:cNvPr id="49" name="Text 47"/>
          <p:cNvSpPr/>
          <p:nvPr/>
        </p:nvSpPr>
        <p:spPr>
          <a:xfrm>
            <a:off x="3319272" y="181051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45152" y="181051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71032" y="181051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296912" y="181051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74320" y="2121408"/>
            <a:ext cx="201168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54" name="Shape 52"/>
          <p:cNvSpPr/>
          <p:nvPr/>
        </p:nvSpPr>
        <p:spPr>
          <a:xfrm>
            <a:off x="2286000" y="2121408"/>
            <a:ext cx="100584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55" name="Shape 53"/>
          <p:cNvSpPr/>
          <p:nvPr/>
        </p:nvSpPr>
        <p:spPr>
          <a:xfrm>
            <a:off x="3291840" y="2121408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17720" y="2121408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43600" y="2121408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69480" y="2121408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9184" y="212140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S3 + CloudFront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2313432" y="2121408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約100円</a:t>
            </a:r>
            <a:endParaRPr lang="en-US" sz="870" dirty="0"/>
          </a:p>
        </p:txBody>
      </p:sp>
      <p:sp>
        <p:nvSpPr>
          <p:cNvPr id="61" name="Text 59"/>
          <p:cNvSpPr/>
          <p:nvPr/>
        </p:nvSpPr>
        <p:spPr>
          <a:xfrm>
            <a:off x="3319272" y="212140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645152" y="212140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5971032" y="212140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296912" y="212140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274320" y="2432304"/>
            <a:ext cx="201168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66" name="Shape 64"/>
          <p:cNvSpPr/>
          <p:nvPr/>
        </p:nvSpPr>
        <p:spPr>
          <a:xfrm>
            <a:off x="2286000" y="2432304"/>
            <a:ext cx="100584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67" name="Shape 65"/>
          <p:cNvSpPr/>
          <p:nvPr/>
        </p:nvSpPr>
        <p:spPr>
          <a:xfrm>
            <a:off x="3291840" y="2432304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17720" y="2432304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943600" y="2432304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69480" y="2432304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9184" y="24323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AWSバックエンド（進捗DB）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2313432" y="2432304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約3,000〜10,000円</a:t>
            </a:r>
            <a:endParaRPr lang="en-US" sz="870" dirty="0"/>
          </a:p>
        </p:txBody>
      </p:sp>
      <p:sp>
        <p:nvSpPr>
          <p:cNvPr id="73" name="Text 71"/>
          <p:cNvSpPr/>
          <p:nvPr/>
        </p:nvSpPr>
        <p:spPr>
          <a:xfrm>
            <a:off x="3319272" y="2432304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4645152" y="2432304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971032" y="2432304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296912" y="2432304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274320" y="2743200"/>
            <a:ext cx="201168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78" name="Shape 76"/>
          <p:cNvSpPr/>
          <p:nvPr/>
        </p:nvSpPr>
        <p:spPr>
          <a:xfrm>
            <a:off x="2286000" y="2743200"/>
            <a:ext cx="100584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79" name="Shape 77"/>
          <p:cNvSpPr/>
          <p:nvPr/>
        </p:nvSpPr>
        <p:spPr>
          <a:xfrm>
            <a:off x="3291840" y="2743200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617720" y="2743200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943600" y="2743200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69480" y="2743200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29184" y="27432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Stripe決済（決済リンク直契約）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2313432" y="2743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決済手数料のみ</a:t>
            </a:r>
            <a:endParaRPr lang="en-US" sz="870" dirty="0"/>
          </a:p>
        </p:txBody>
      </p:sp>
      <p:sp>
        <p:nvSpPr>
          <p:cNvPr id="85" name="Text 83"/>
          <p:cNvSpPr/>
          <p:nvPr/>
        </p:nvSpPr>
        <p:spPr>
          <a:xfrm>
            <a:off x="3319272" y="274320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4645152" y="274320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5971032" y="274320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7296912" y="274320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74320" y="3054096"/>
            <a:ext cx="201168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90" name="Shape 88"/>
          <p:cNvSpPr/>
          <p:nvPr/>
        </p:nvSpPr>
        <p:spPr>
          <a:xfrm>
            <a:off x="2286000" y="3054096"/>
            <a:ext cx="100584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91" name="Shape 89"/>
          <p:cNvSpPr/>
          <p:nvPr/>
        </p:nvSpPr>
        <p:spPr>
          <a:xfrm>
            <a:off x="3291840" y="3054096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17720" y="3054096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943600" y="3054096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269480" y="3054096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29184" y="305409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Auth（会員認証）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2313432" y="3054096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¥0〜</a:t>
            </a:r>
            <a:endParaRPr lang="en-US" sz="870" dirty="0"/>
          </a:p>
        </p:txBody>
      </p:sp>
      <p:sp>
        <p:nvSpPr>
          <p:cNvPr id="97" name="Text 95"/>
          <p:cNvSpPr/>
          <p:nvPr/>
        </p:nvSpPr>
        <p:spPr>
          <a:xfrm>
            <a:off x="3319272" y="305409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98" name="Text 96"/>
          <p:cNvSpPr/>
          <p:nvPr/>
        </p:nvSpPr>
        <p:spPr>
          <a:xfrm>
            <a:off x="4645152" y="305409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5971032" y="305409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7296912" y="3054096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274320" y="3364992"/>
            <a:ext cx="201168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286000" y="3364992"/>
            <a:ext cx="1005840" cy="310896"/>
          </a:xfrm>
          <a:prstGeom prst="rect">
            <a:avLst/>
          </a:prstGeom>
          <a:solidFill>
            <a:srgbClr val="121225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91840" y="3364992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4617720" y="3364992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943600" y="3364992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269480" y="3364992"/>
            <a:ext cx="1325880" cy="310896"/>
          </a:xfrm>
          <a:prstGeom prst="rect">
            <a:avLst/>
          </a:prstGeom>
          <a:solidFill>
            <a:srgbClr val="12122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9184" y="336499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Vimeo限定公開（動画配信）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313432" y="3364992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¥0〜1,500円</a:t>
            </a:r>
            <a:endParaRPr lang="en-US" sz="870" dirty="0"/>
          </a:p>
        </p:txBody>
      </p:sp>
      <p:sp>
        <p:nvSpPr>
          <p:cNvPr id="109" name="Text 107"/>
          <p:cNvSpPr/>
          <p:nvPr/>
        </p:nvSpPr>
        <p:spPr>
          <a:xfrm>
            <a:off x="3319272" y="336499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645152" y="336499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11" name="Text 109"/>
          <p:cNvSpPr/>
          <p:nvPr/>
        </p:nvSpPr>
        <p:spPr>
          <a:xfrm>
            <a:off x="5971032" y="336499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12" name="Text 110"/>
          <p:cNvSpPr/>
          <p:nvPr/>
        </p:nvSpPr>
        <p:spPr>
          <a:xfrm>
            <a:off x="7296912" y="336499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274320" y="3675888"/>
            <a:ext cx="201168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286000" y="3675888"/>
            <a:ext cx="1005840" cy="310896"/>
          </a:xfrm>
          <a:prstGeom prst="rect">
            <a:avLst/>
          </a:prstGeom>
          <a:solidFill>
            <a:srgbClr val="1A1A35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291840" y="3675888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17720" y="3675888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1A252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3600" y="3675888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1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269480" y="3675888"/>
            <a:ext cx="1325880" cy="310896"/>
          </a:xfrm>
          <a:prstGeom prst="rect">
            <a:avLst/>
          </a:prstGeom>
          <a:solidFill>
            <a:srgbClr val="1A1A35"/>
          </a:solidFill>
          <a:ln w="12700">
            <a:solidFill>
              <a:srgbClr val="251A2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29184" y="3675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開発費（Claude Code）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2313432" y="3675888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¥0 ※P4は工数増</a:t>
            </a:r>
            <a:endParaRPr lang="en-US" sz="870" dirty="0"/>
          </a:p>
        </p:txBody>
      </p:sp>
      <p:sp>
        <p:nvSpPr>
          <p:cNvPr id="121" name="Text 119"/>
          <p:cNvSpPr/>
          <p:nvPr/>
        </p:nvSpPr>
        <p:spPr>
          <a:xfrm>
            <a:off x="3319272" y="367588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4645152" y="367588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5971032" y="367588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7296912" y="3675888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125" name="Shape 123"/>
          <p:cNvSpPr/>
          <p:nvPr/>
        </p:nvSpPr>
        <p:spPr>
          <a:xfrm>
            <a:off x="274320" y="4032504"/>
            <a:ext cx="3017520" cy="365760"/>
          </a:xfrm>
          <a:prstGeom prst="rect">
            <a:avLst/>
          </a:prstGeom>
          <a:solidFill>
            <a:srgbClr val="1A1535"/>
          </a:solidFill>
          <a:ln/>
        </p:spPr>
      </p:sp>
      <p:sp>
        <p:nvSpPr>
          <p:cNvPr id="126" name="Text 124"/>
          <p:cNvSpPr/>
          <p:nvPr/>
        </p:nvSpPr>
        <p:spPr>
          <a:xfrm>
            <a:off x="329184" y="40325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/ 月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3291840" y="4032504"/>
            <a:ext cx="1325880" cy="365760"/>
          </a:xfrm>
          <a:prstGeom prst="rect">
            <a:avLst/>
          </a:prstGeom>
          <a:solidFill>
            <a:srgbClr val="4A9EDB"/>
          </a:solidFill>
          <a:ln/>
        </p:spPr>
      </p:sp>
      <p:sp>
        <p:nvSpPr>
          <p:cNvPr id="128" name="Text 126"/>
          <p:cNvSpPr/>
          <p:nvPr/>
        </p:nvSpPr>
        <p:spPr>
          <a:xfrm>
            <a:off x="3319272" y="4032504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約20,000円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4617720" y="4032504"/>
            <a:ext cx="1325880" cy="365760"/>
          </a:xfrm>
          <a:prstGeom prst="rect">
            <a:avLst/>
          </a:prstGeom>
          <a:solidFill>
            <a:srgbClr val="4CAF73"/>
          </a:solidFill>
          <a:ln/>
        </p:spPr>
      </p:sp>
      <p:sp>
        <p:nvSpPr>
          <p:cNvPr id="130" name="Text 128"/>
          <p:cNvSpPr/>
          <p:nvPr/>
        </p:nvSpPr>
        <p:spPr>
          <a:xfrm>
            <a:off x="4645152" y="4032504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約20,150円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5943600" y="4032504"/>
            <a:ext cx="1325880" cy="3657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32" name="Text 130"/>
          <p:cNvSpPr/>
          <p:nvPr/>
        </p:nvSpPr>
        <p:spPr>
          <a:xfrm>
            <a:off x="5971032" y="4032504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約23,000〜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30,000円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7269480" y="4032504"/>
            <a:ext cx="1325880" cy="3657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34" name="Text 132"/>
          <p:cNvSpPr/>
          <p:nvPr/>
        </p:nvSpPr>
        <p:spPr>
          <a:xfrm>
            <a:off x="7296912" y="4032504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手数料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＋数百円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274320" y="4471416"/>
            <a:ext cx="8595360" cy="310896"/>
          </a:xfrm>
          <a:prstGeom prst="roundRect">
            <a:avLst>
              <a:gd name="adj" fmla="val 17647"/>
            </a:avLst>
          </a:prstGeom>
          <a:solidFill>
            <a:srgbClr val="251A2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84048" y="4471416"/>
            <a:ext cx="8375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P4(UTAGEなし)：月額固定費はほぼ¥0だが、決済・認証・動画保護の連携を新規に作り込む分、初期開発工数が増える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"/>
            <a:ext cx="3200400" cy="3200400"/>
          </a:xfrm>
          <a:prstGeom prst="ellipse">
            <a:avLst/>
          </a:prstGeom>
          <a:solidFill>
            <a:srgbClr val="7B5EA7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ネクストステップ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2743200" cy="3703320"/>
          </a:xfrm>
          <a:prstGeom prst="roundRect">
            <a:avLst>
              <a:gd name="adj" fmla="val 3333"/>
            </a:avLst>
          </a:prstGeom>
          <a:solidFill>
            <a:srgbClr val="1A1A35"/>
          </a:solidFill>
          <a:ln w="12700">
            <a:solidFill>
              <a:srgbClr val="4A9E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0352" y="960120"/>
            <a:ext cx="1188720" cy="347472"/>
          </a:xfrm>
          <a:prstGeom prst="roundRect">
            <a:avLst>
              <a:gd name="adj" fmla="val 23684"/>
            </a:avLst>
          </a:prstGeom>
          <a:solidFill>
            <a:srgbClr val="4A9ED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978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783080" y="1005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1〜2週間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要件ヒアリング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動画・教材の本数と構成確認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7157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UTAGEコース設計の確認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RPGクエスト設計・ステータス設計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822960"/>
            <a:ext cx="2743200" cy="3703320"/>
          </a:xfrm>
          <a:prstGeom prst="roundRect">
            <a:avLst>
              <a:gd name="adj" fmla="val 3333"/>
            </a:avLst>
          </a:prstGeom>
          <a:solidFill>
            <a:srgbClr val="1A1A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56432" y="960120"/>
            <a:ext cx="1188720" cy="347472"/>
          </a:xfrm>
          <a:prstGeom prst="roundRect">
            <a:avLst>
              <a:gd name="adj" fmla="val 23684"/>
            </a:avLst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3456432" y="978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09160" y="1005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2〜3週間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プロトタイプ制作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429000" y="2029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16タイプアバター選択UI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29000" y="27157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4ステータス表示・バー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2900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基本クエストリスト完成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822960"/>
            <a:ext cx="2743200" cy="3703320"/>
          </a:xfrm>
          <a:prstGeom prst="roundRect">
            <a:avLst>
              <a:gd name="adj" fmla="val 3333"/>
            </a:avLst>
          </a:prstGeom>
          <a:solidFill>
            <a:srgbClr val="1A1A35"/>
          </a:solidFill>
          <a:ln w="12700">
            <a:solidFill>
              <a:srgbClr val="4CA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960120"/>
            <a:ext cx="1188720" cy="347472"/>
          </a:xfrm>
          <a:prstGeom prst="roundRect">
            <a:avLst>
              <a:gd name="adj" fmla="val 23684"/>
            </a:avLst>
          </a:prstGeom>
          <a:solidFill>
            <a:srgbClr val="4CAF73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978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35240" y="1005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5508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リリース・調整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55080" y="2029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GitHub Pagesでデプロイ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55080" y="27157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UTAGEとのリンク設置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ユーザーFBで継続改善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371600" y="4681728"/>
            <a:ext cx="6400800" cy="365760"/>
          </a:xfrm>
          <a:prstGeom prst="roundRect">
            <a:avLst>
              <a:gd name="adj" fmla="val 25000"/>
            </a:avLst>
          </a:prstGeom>
          <a:solidFill>
            <a:srgbClr val="F5A623"/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7000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まず「Phase 1 要件ヒアリング」の日程を合わせましょう！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2026-07-18T16:12:25Z</dcterms:created>
  <dcterms:modified xsi:type="dcterms:W3CDTF">2026-07-18T16:12:25Z</dcterms:modified>
</cp:coreProperties>
</file>